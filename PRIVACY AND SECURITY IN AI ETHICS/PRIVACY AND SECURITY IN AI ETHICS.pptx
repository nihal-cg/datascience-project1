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335" r:id="rId5"/>
    <p:sldId id="336" r:id="rId6"/>
    <p:sldId id="339" r:id="rId7"/>
    <p:sldId id="345" r:id="rId8"/>
    <p:sldId id="346" r:id="rId9"/>
    <p:sldId id="347" r:id="rId10"/>
    <p:sldId id="356" r:id="rId11"/>
    <p:sldId id="357" r:id="rId12"/>
    <p:sldId id="358" r:id="rId13"/>
    <p:sldId id="359" r:id="rId14"/>
    <p:sldId id="360" r:id="rId15"/>
    <p:sldId id="361" r:id="rId16"/>
    <p:sldId id="364" r:id="rId17"/>
    <p:sldId id="363" r:id="rId18"/>
    <p:sldId id="367" r:id="rId19"/>
    <p:sldId id="365" r:id="rId20"/>
    <p:sldId id="368" r:id="rId21"/>
    <p:sldId id="366" r:id="rId22"/>
    <p:sldId id="369" r:id="rId23"/>
    <p:sldId id="362" r:id="rId24"/>
    <p:sldId id="35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varScale="1">
        <p:scale>
          <a:sx n="78" d="100"/>
          <a:sy n="78" d="100"/>
        </p:scale>
        <p:origin x="878" y="72"/>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10/10/2025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10/10/2025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990660-4B7D-4C11-96DB-B19FFA8CA93C}" type="slidenum">
              <a:rPr lang="en-US" smtClean="0"/>
              <a:t>2</a:t>
            </a:fld>
            <a:endParaRPr lang="en-US" dirty="0"/>
          </a:p>
        </p:txBody>
      </p:sp>
    </p:spTree>
    <p:extLst>
      <p:ext uri="{BB962C8B-B14F-4D97-AF65-F5344CB8AC3E}">
        <p14:creationId xmlns:p14="http://schemas.microsoft.com/office/powerpoint/2010/main" val="11526462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5550568" y="2241884"/>
            <a:ext cx="6641432" cy="2374232"/>
          </a:xfrm>
        </p:spPr>
        <p:txBody>
          <a:bodyPr>
            <a:normAutofit/>
          </a:bodyPr>
          <a:lstStyle/>
          <a:p>
            <a:r>
              <a:rPr lang="en-US" sz="4400" dirty="0"/>
              <a:t>Privacy and Security in AI Ethics</a:t>
            </a:r>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0" y="160067"/>
            <a:ext cx="8297380" cy="1326514"/>
          </a:xfrm>
        </p:spPr>
        <p:txBody>
          <a:bodyPr/>
          <a:lstStyle/>
          <a:p>
            <a:r>
              <a:rPr lang="en-IN" dirty="0"/>
              <a:t>Introduction:-</a:t>
            </a:r>
            <a:endParaRPr lang="en-US" dirty="0"/>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sp>
        <p:nvSpPr>
          <p:cNvPr id="4" name="Rectangle 1">
            <a:extLst>
              <a:ext uri="{FF2B5EF4-FFF2-40B4-BE49-F238E27FC236}">
                <a16:creationId xmlns:a16="http://schemas.microsoft.com/office/drawing/2014/main" id="{87517711-1994-4427-876A-C937506D131B}"/>
              </a:ext>
            </a:extLst>
          </p:cNvPr>
          <p:cNvSpPr>
            <a:spLocks noChangeArrowheads="1"/>
          </p:cNvSpPr>
          <p:nvPr/>
        </p:nvSpPr>
        <p:spPr bwMode="auto">
          <a:xfrm>
            <a:off x="893064" y="1280416"/>
            <a:ext cx="8743188"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600" dirty="0"/>
          </a:p>
          <a:p>
            <a:r>
              <a:rPr lang="en-US" sz="2000" dirty="0"/>
              <a:t>Artificial Intelligence (AI) has become an essential part of modern life, influencing areas such as healthcare, education, communication, and finance. However, AI systems rely heavily on the collection and analysis of personal data, which raises serious ethical concerns about privacy and security. When personal information like health records, social media data, or biometric details is not handled responsibly, it can lead to misuse, identity theft, and loss of public trust. Therefore, ensuring privacy and security in AI is not just a technical requirement but a moral and social responsibility. These two principles form the foundation of AI ethics and are crucial for maintaining fairness, accountability, and trust in technological systems.</a:t>
            </a:r>
          </a:p>
        </p:txBody>
      </p:sp>
    </p:spTree>
    <p:extLst>
      <p:ext uri="{BB962C8B-B14F-4D97-AF65-F5344CB8AC3E}">
        <p14:creationId xmlns:p14="http://schemas.microsoft.com/office/powerpoint/2010/main" val="58274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0" y="384743"/>
            <a:ext cx="8297380" cy="1326514"/>
          </a:xfrm>
        </p:spPr>
        <p:txBody>
          <a:bodyPr/>
          <a:lstStyle/>
          <a:p>
            <a:r>
              <a:rPr lang="en-IN" dirty="0"/>
              <a:t>Privacy in Artificial Intelligence</a:t>
            </a:r>
            <a:endParaRPr lang="en-ZA" dirty="0"/>
          </a:p>
        </p:txBody>
      </p:sp>
      <p:sp>
        <p:nvSpPr>
          <p:cNvPr id="3" name="Slide Number Placeholder 2">
            <a:extLst>
              <a:ext uri="{FF2B5EF4-FFF2-40B4-BE49-F238E27FC236}">
                <a16:creationId xmlns:a16="http://schemas.microsoft.com/office/drawing/2014/main" id="{95D7C9F2-EB2A-D57B-0D06-69B87C19A3A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a:t>
            </a:fld>
            <a:endParaRPr lang="en-US" dirty="0"/>
          </a:p>
        </p:txBody>
      </p:sp>
      <p:sp>
        <p:nvSpPr>
          <p:cNvPr id="5" name="Rectangle 1">
            <a:extLst>
              <a:ext uri="{FF2B5EF4-FFF2-40B4-BE49-F238E27FC236}">
                <a16:creationId xmlns:a16="http://schemas.microsoft.com/office/drawing/2014/main" id="{6DA7F343-7F33-6E11-4F2C-58DC019541CD}"/>
              </a:ext>
            </a:extLst>
          </p:cNvPr>
          <p:cNvSpPr>
            <a:spLocks noGrp="1" noChangeArrowheads="1"/>
          </p:cNvSpPr>
          <p:nvPr>
            <p:ph type="body" sz="quarter" idx="13"/>
          </p:nvPr>
        </p:nvSpPr>
        <p:spPr bwMode="auto">
          <a:xfrm>
            <a:off x="655707" y="1730633"/>
            <a:ext cx="921640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dirty="0"/>
              <a:t>Privacy in AI refers to an individual’s right to control their personal information and decide how it is collected, used, and shared. Ethical AI systems should always respect this right and ensure that users give informed consent before their data is used. Privacy is often at risk when companies gather large amounts of personal data for targeted advertising, facial recognition, or predictive analytics. To protect privacy, AI developers must ensure that sensitive data is not exposed, misused, or shared without permission. Moreover, AI algorithms should be designed to avoid revealing hidden personal details through indirect data patterns. Protecting privacy is essential for maintaining human dignity and individual autonomy in the digital era.</a:t>
            </a:r>
          </a:p>
        </p:txBody>
      </p:sp>
    </p:spTree>
    <p:extLst>
      <p:ext uri="{BB962C8B-B14F-4D97-AF65-F5344CB8AC3E}">
        <p14:creationId xmlns:p14="http://schemas.microsoft.com/office/powerpoint/2010/main" val="2099008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86A1-11A8-21B1-B6A0-AA1A1DAA5A9A}"/>
              </a:ext>
            </a:extLst>
          </p:cNvPr>
          <p:cNvSpPr>
            <a:spLocks noGrp="1"/>
          </p:cNvSpPr>
          <p:nvPr>
            <p:ph type="title"/>
          </p:nvPr>
        </p:nvSpPr>
        <p:spPr>
          <a:xfrm>
            <a:off x="0" y="473387"/>
            <a:ext cx="10405174" cy="1326514"/>
          </a:xfrm>
        </p:spPr>
        <p:txBody>
          <a:bodyPr/>
          <a:lstStyle/>
          <a:p>
            <a:r>
              <a:rPr lang="en-IN" dirty="0"/>
              <a:t>Security in Artificial Intelligence</a:t>
            </a:r>
            <a:endParaRPr lang="en-ZA" dirty="0"/>
          </a:p>
        </p:txBody>
      </p:sp>
      <p:sp>
        <p:nvSpPr>
          <p:cNvPr id="3" name="Slide Number Placeholder 2">
            <a:extLst>
              <a:ext uri="{FF2B5EF4-FFF2-40B4-BE49-F238E27FC236}">
                <a16:creationId xmlns:a16="http://schemas.microsoft.com/office/drawing/2014/main" id="{C5430536-D522-9F5E-B2C4-24F7C757082B}"/>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4</a:t>
            </a:fld>
            <a:endParaRPr lang="en-US" dirty="0"/>
          </a:p>
        </p:txBody>
      </p:sp>
      <p:sp>
        <p:nvSpPr>
          <p:cNvPr id="8" name="TextBox 7">
            <a:extLst>
              <a:ext uri="{FF2B5EF4-FFF2-40B4-BE49-F238E27FC236}">
                <a16:creationId xmlns:a16="http://schemas.microsoft.com/office/drawing/2014/main" id="{9B2B766D-2C34-B528-EBDE-BAE687173A27}"/>
              </a:ext>
            </a:extLst>
          </p:cNvPr>
          <p:cNvSpPr txBox="1"/>
          <p:nvPr/>
        </p:nvSpPr>
        <p:spPr>
          <a:xfrm>
            <a:off x="911352" y="1799901"/>
            <a:ext cx="10203180" cy="2862322"/>
          </a:xfrm>
          <a:prstGeom prst="rect">
            <a:avLst/>
          </a:prstGeom>
          <a:noFill/>
        </p:spPr>
        <p:txBody>
          <a:bodyPr wrap="square">
            <a:spAutoFit/>
          </a:bodyPr>
          <a:lstStyle/>
          <a:p>
            <a:r>
              <a:rPr lang="en-US" sz="2000" dirty="0"/>
              <a:t>Security focuses on safeguarding data from unauthorized access, cyberattacks, and misuse. In AI systems, security ensures that personal and sensitive data remains protected throughout its lifecycle — from collection to storage and processing. Techniques such as encryption, multi-factor authentication, and access control are used to prevent hacking or data tampering. Regular audits and testing can identify potential weaknesses before they are exploited. Security also includes protection from internal threats, such as misuse by employees or partners who have access to confidential data. Without strong security, even the most advanced AI systems become vulnerable, leading to serious social and economic consequences.</a:t>
            </a:r>
            <a:endParaRPr lang="en-US" dirty="0"/>
          </a:p>
        </p:txBody>
      </p:sp>
    </p:spTree>
    <p:extLst>
      <p:ext uri="{BB962C8B-B14F-4D97-AF65-F5344CB8AC3E}">
        <p14:creationId xmlns:p14="http://schemas.microsoft.com/office/powerpoint/2010/main" val="1684465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4AA07-A71D-DC62-C319-767EBC696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758E8-AB5A-BB9D-267A-5E0509948B3D}"/>
              </a:ext>
            </a:extLst>
          </p:cNvPr>
          <p:cNvSpPr>
            <a:spLocks noGrp="1"/>
          </p:cNvSpPr>
          <p:nvPr>
            <p:ph type="title"/>
          </p:nvPr>
        </p:nvSpPr>
        <p:spPr>
          <a:xfrm>
            <a:off x="0" y="342391"/>
            <a:ext cx="10405174" cy="1326514"/>
          </a:xfrm>
        </p:spPr>
        <p:txBody>
          <a:bodyPr/>
          <a:lstStyle/>
          <a:p>
            <a:r>
              <a:rPr lang="en-US" dirty="0"/>
              <a:t>Importance of Privacy and Security in AI</a:t>
            </a:r>
            <a:endParaRPr lang="en-ZA" dirty="0"/>
          </a:p>
        </p:txBody>
      </p:sp>
      <p:sp>
        <p:nvSpPr>
          <p:cNvPr id="3" name="Slide Number Placeholder 2">
            <a:extLst>
              <a:ext uri="{FF2B5EF4-FFF2-40B4-BE49-F238E27FC236}">
                <a16:creationId xmlns:a16="http://schemas.microsoft.com/office/drawing/2014/main" id="{027E916C-1334-15A7-E797-CAA55F78C093}"/>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5</a:t>
            </a:fld>
            <a:endParaRPr lang="en-US" dirty="0"/>
          </a:p>
        </p:txBody>
      </p:sp>
      <p:sp>
        <p:nvSpPr>
          <p:cNvPr id="8" name="TextBox 7">
            <a:extLst>
              <a:ext uri="{FF2B5EF4-FFF2-40B4-BE49-F238E27FC236}">
                <a16:creationId xmlns:a16="http://schemas.microsoft.com/office/drawing/2014/main" id="{7DE7D71A-E535-6D13-CDB2-2E8321C96C98}"/>
              </a:ext>
            </a:extLst>
          </p:cNvPr>
          <p:cNvSpPr txBox="1"/>
          <p:nvPr/>
        </p:nvSpPr>
        <p:spPr>
          <a:xfrm>
            <a:off x="911352" y="1668905"/>
            <a:ext cx="9431021" cy="2862322"/>
          </a:xfrm>
          <a:prstGeom prst="rect">
            <a:avLst/>
          </a:prstGeom>
          <a:noFill/>
        </p:spPr>
        <p:txBody>
          <a:bodyPr wrap="square">
            <a:spAutoFit/>
          </a:bodyPr>
          <a:lstStyle/>
          <a:p>
            <a:r>
              <a:rPr lang="en-US" sz="2000" dirty="0"/>
              <a:t>Privacy and security are vital for maintaining trust in AI technologies. AI systems often process huge volumes of sensitive data; therefore, mishandling this information can result in identity theft, discrimination, and manipulation. A single security failure can expose millions of users to data breaches, leading to legal penalties and loss of credibility for companies. Furthermore, when users lose confidence in the safety of their information, they become less willing to adopt AI-based services, slowing down technological growth. Thus, ensuring privacy and security not only protects individuals but also strengthens innovation and public confidence in AI systems.</a:t>
            </a:r>
          </a:p>
        </p:txBody>
      </p:sp>
    </p:spTree>
    <p:extLst>
      <p:ext uri="{BB962C8B-B14F-4D97-AF65-F5344CB8AC3E}">
        <p14:creationId xmlns:p14="http://schemas.microsoft.com/office/powerpoint/2010/main" val="3523787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6C556-4A9C-82FB-9F0F-525C48EC8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F3C84-77B0-638A-90F6-8399D24744FD}"/>
              </a:ext>
            </a:extLst>
          </p:cNvPr>
          <p:cNvSpPr>
            <a:spLocks noGrp="1"/>
          </p:cNvSpPr>
          <p:nvPr>
            <p:ph type="title"/>
          </p:nvPr>
        </p:nvSpPr>
        <p:spPr>
          <a:xfrm>
            <a:off x="0" y="398863"/>
            <a:ext cx="8297380" cy="1326514"/>
          </a:xfrm>
        </p:spPr>
        <p:txBody>
          <a:bodyPr/>
          <a:lstStyle/>
          <a:p>
            <a:r>
              <a:rPr lang="en-IN" dirty="0"/>
              <a:t>Real-World Examples</a:t>
            </a:r>
            <a:endParaRPr lang="en-ZA" dirty="0"/>
          </a:p>
        </p:txBody>
      </p:sp>
      <p:sp>
        <p:nvSpPr>
          <p:cNvPr id="4" name="Text Placeholder 3">
            <a:extLst>
              <a:ext uri="{FF2B5EF4-FFF2-40B4-BE49-F238E27FC236}">
                <a16:creationId xmlns:a16="http://schemas.microsoft.com/office/drawing/2014/main" id="{94B7C375-986F-2FC2-4FC2-5DCB5DA0B65E}"/>
              </a:ext>
            </a:extLst>
          </p:cNvPr>
          <p:cNvSpPr>
            <a:spLocks noGrp="1"/>
          </p:cNvSpPr>
          <p:nvPr>
            <p:ph type="body" sz="quarter" idx="13"/>
          </p:nvPr>
        </p:nvSpPr>
        <p:spPr>
          <a:xfrm>
            <a:off x="512387" y="1725377"/>
            <a:ext cx="9561253" cy="3407245"/>
          </a:xfrm>
        </p:spPr>
        <p:txBody>
          <a:bodyPr>
            <a:noAutofit/>
          </a:bodyPr>
          <a:lstStyle/>
          <a:p>
            <a:pPr marL="0" indent="0">
              <a:buNone/>
            </a:pPr>
            <a:r>
              <a:rPr lang="en-US" dirty="0"/>
              <a:t>Several real-world incidents highlight the importance of privacy and security in AI. One notable example is the </a:t>
            </a:r>
            <a:r>
              <a:rPr lang="en-US" b="1" dirty="0"/>
              <a:t>Cambridge Analytica scandal</a:t>
            </a:r>
            <a:r>
              <a:rPr lang="en-US" dirty="0"/>
              <a:t>, where data from millions of Facebook users was collected without consent and used to influence political campaigns. This event revealed how easily private data can be exploited for unethical purposes. Another example involves </a:t>
            </a:r>
            <a:r>
              <a:rPr lang="en-US" b="1" dirty="0"/>
              <a:t>healthcare data breaches</a:t>
            </a:r>
            <a:r>
              <a:rPr lang="en-US" dirty="0"/>
              <a:t>, where patient records were exposed or sold, leading to identity theft and job discrimination. Additionally, </a:t>
            </a:r>
            <a:r>
              <a:rPr lang="en-US" b="1" dirty="0"/>
              <a:t>facial recognition systems</a:t>
            </a:r>
            <a:r>
              <a:rPr lang="en-US" dirty="0"/>
              <a:t> used by some governments for surveillance have raised serious concerns about privacy and civil rights. Finally, the rise of </a:t>
            </a:r>
            <a:r>
              <a:rPr lang="en-US" b="1" dirty="0"/>
              <a:t>AI-powered cyberattacks</a:t>
            </a:r>
            <a:r>
              <a:rPr lang="en-US" dirty="0"/>
              <a:t> and deepfakes shows that AI can also be used to create sophisticated scams and misinformation campaigns.</a:t>
            </a:r>
          </a:p>
        </p:txBody>
      </p:sp>
      <p:sp>
        <p:nvSpPr>
          <p:cNvPr id="3" name="Slide Number Placeholder 2">
            <a:extLst>
              <a:ext uri="{FF2B5EF4-FFF2-40B4-BE49-F238E27FC236}">
                <a16:creationId xmlns:a16="http://schemas.microsoft.com/office/drawing/2014/main" id="{7E9B2826-869D-0A39-5666-D1ABD5A07F8C}"/>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3317462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E257A-59C4-A4A1-E96D-DF0D2A212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727B6-9738-7403-BA3C-E25703B4D8A6}"/>
              </a:ext>
            </a:extLst>
          </p:cNvPr>
          <p:cNvSpPr>
            <a:spLocks noGrp="1"/>
          </p:cNvSpPr>
          <p:nvPr>
            <p:ph type="title"/>
          </p:nvPr>
        </p:nvSpPr>
        <p:spPr>
          <a:xfrm>
            <a:off x="0" y="190526"/>
            <a:ext cx="8297380" cy="1326514"/>
          </a:xfrm>
        </p:spPr>
        <p:txBody>
          <a:bodyPr/>
          <a:lstStyle/>
          <a:p>
            <a:r>
              <a:rPr lang="en-IN" dirty="0"/>
              <a:t>Key Ethical Concerns</a:t>
            </a:r>
            <a:endParaRPr lang="en-ZA" dirty="0"/>
          </a:p>
        </p:txBody>
      </p:sp>
      <p:sp>
        <p:nvSpPr>
          <p:cNvPr id="4" name="Text Placeholder 3">
            <a:extLst>
              <a:ext uri="{FF2B5EF4-FFF2-40B4-BE49-F238E27FC236}">
                <a16:creationId xmlns:a16="http://schemas.microsoft.com/office/drawing/2014/main" id="{270522AD-E758-9B7D-F50E-7963781FD2CA}"/>
              </a:ext>
            </a:extLst>
          </p:cNvPr>
          <p:cNvSpPr>
            <a:spLocks noGrp="1"/>
          </p:cNvSpPr>
          <p:nvPr>
            <p:ph type="body" sz="quarter" idx="13"/>
          </p:nvPr>
        </p:nvSpPr>
        <p:spPr>
          <a:xfrm>
            <a:off x="541570" y="1621956"/>
            <a:ext cx="9561253" cy="3193236"/>
          </a:xfrm>
        </p:spPr>
        <p:txBody>
          <a:bodyPr>
            <a:noAutofit/>
          </a:bodyPr>
          <a:lstStyle/>
          <a:p>
            <a:pPr marL="0" indent="0">
              <a:buNone/>
            </a:pPr>
            <a:r>
              <a:rPr lang="en-US" dirty="0"/>
              <a:t>Ethical concerns in AI privacy and security include issues such as informed consent, data minimization, transparency, and fairness. Informed consent ensures that individuals clearly understand how their data will be used and have the option to agree or refuse. Data minimization encourages organizations to collect only the information they truly need, reducing the risk of exposure. Transparency gives users the right to know what data has been collected about them and how it influences AI decisions. Fair use and non-discrimination ensure that data is never used to harm or disadvantage individuals. Lastly, compliance with global laws like </a:t>
            </a:r>
            <a:r>
              <a:rPr lang="en-US" b="1" dirty="0"/>
              <a:t>GDPR</a:t>
            </a:r>
            <a:r>
              <a:rPr lang="en-US" dirty="0"/>
              <a:t> and </a:t>
            </a:r>
            <a:r>
              <a:rPr lang="en-US" b="1" dirty="0"/>
              <a:t>CCPA</a:t>
            </a:r>
            <a:r>
              <a:rPr lang="en-US" dirty="0"/>
              <a:t> is necessary to uphold ethical data practices and avoid legal consequences.</a:t>
            </a:r>
          </a:p>
        </p:txBody>
      </p:sp>
      <p:sp>
        <p:nvSpPr>
          <p:cNvPr id="3" name="Slide Number Placeholder 2">
            <a:extLst>
              <a:ext uri="{FF2B5EF4-FFF2-40B4-BE49-F238E27FC236}">
                <a16:creationId xmlns:a16="http://schemas.microsoft.com/office/drawing/2014/main" id="{E4F65768-4056-40EF-E1C3-6CB052A83082}"/>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771974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2CBC-DA3C-075A-0CD7-C691DFF47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3FF85-FD4F-1147-B5EF-17A3822E9091}"/>
              </a:ext>
            </a:extLst>
          </p:cNvPr>
          <p:cNvSpPr>
            <a:spLocks noGrp="1"/>
          </p:cNvSpPr>
          <p:nvPr>
            <p:ph type="title"/>
          </p:nvPr>
        </p:nvSpPr>
        <p:spPr>
          <a:xfrm>
            <a:off x="0" y="420213"/>
            <a:ext cx="10405174" cy="1326514"/>
          </a:xfrm>
        </p:spPr>
        <p:txBody>
          <a:bodyPr/>
          <a:lstStyle/>
          <a:p>
            <a:r>
              <a:rPr lang="en-US" dirty="0"/>
              <a:t>Ways to Protect Privacy and Security</a:t>
            </a:r>
            <a:endParaRPr lang="en-ZA" dirty="0"/>
          </a:p>
        </p:txBody>
      </p:sp>
      <p:sp>
        <p:nvSpPr>
          <p:cNvPr id="3" name="Slide Number Placeholder 2">
            <a:extLst>
              <a:ext uri="{FF2B5EF4-FFF2-40B4-BE49-F238E27FC236}">
                <a16:creationId xmlns:a16="http://schemas.microsoft.com/office/drawing/2014/main" id="{252E59B0-CA50-14AD-F2CB-EE1F881DD4AF}"/>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8</a:t>
            </a:fld>
            <a:endParaRPr lang="en-US" dirty="0"/>
          </a:p>
        </p:txBody>
      </p:sp>
      <p:sp>
        <p:nvSpPr>
          <p:cNvPr id="8" name="TextBox 7">
            <a:extLst>
              <a:ext uri="{FF2B5EF4-FFF2-40B4-BE49-F238E27FC236}">
                <a16:creationId xmlns:a16="http://schemas.microsoft.com/office/drawing/2014/main" id="{318F2B56-CE5C-A4E4-152A-87EFE15C3ACD}"/>
              </a:ext>
            </a:extLst>
          </p:cNvPr>
          <p:cNvSpPr txBox="1"/>
          <p:nvPr/>
        </p:nvSpPr>
        <p:spPr>
          <a:xfrm>
            <a:off x="540416" y="1843950"/>
            <a:ext cx="9431021" cy="3170099"/>
          </a:xfrm>
          <a:prstGeom prst="rect">
            <a:avLst/>
          </a:prstGeom>
          <a:noFill/>
        </p:spPr>
        <p:txBody>
          <a:bodyPr wrap="square">
            <a:spAutoFit/>
          </a:bodyPr>
          <a:lstStyle/>
          <a:p>
            <a:r>
              <a:rPr lang="en-US" sz="2000" dirty="0"/>
              <a:t>There are several strategies to protect privacy and security in AI systems. </a:t>
            </a:r>
            <a:r>
              <a:rPr lang="en-US" sz="2000" b="1" dirty="0"/>
              <a:t>Encryption</a:t>
            </a:r>
            <a:r>
              <a:rPr lang="en-US" sz="2000" dirty="0"/>
              <a:t> keeps data unreadable to unauthorized users, while </a:t>
            </a:r>
            <a:r>
              <a:rPr lang="en-US" sz="2000" b="1" dirty="0"/>
              <a:t>anonymization</a:t>
            </a:r>
            <a:r>
              <a:rPr lang="en-US" sz="2000" dirty="0"/>
              <a:t> removes identifiable information before processing. </a:t>
            </a:r>
            <a:r>
              <a:rPr lang="en-US" sz="2000" b="1" dirty="0"/>
              <a:t>Access control</a:t>
            </a:r>
            <a:r>
              <a:rPr lang="en-US" sz="2000" dirty="0"/>
              <a:t> restricts data handling to authorized personnel only. </a:t>
            </a:r>
            <a:r>
              <a:rPr lang="en-US" sz="2000" b="1" dirty="0"/>
              <a:t>Regular audits</a:t>
            </a:r>
            <a:r>
              <a:rPr lang="en-US" sz="2000" dirty="0"/>
              <a:t> are essential to detect vulnerabilities in AI systems. Innovative approaches such as </a:t>
            </a:r>
            <a:r>
              <a:rPr lang="en-US" sz="2000" b="1" dirty="0"/>
              <a:t>federated learning</a:t>
            </a:r>
            <a:r>
              <a:rPr lang="en-US" sz="2000" dirty="0"/>
              <a:t> allow AI models to learn from user data without transferring it to central servers, thus improving privacy. Establishing clear </a:t>
            </a:r>
            <a:r>
              <a:rPr lang="en-US" sz="2000" b="1" dirty="0"/>
              <a:t>informed consent processes</a:t>
            </a:r>
            <a:r>
              <a:rPr lang="en-US" sz="2000" dirty="0"/>
              <a:t> and </a:t>
            </a:r>
            <a:r>
              <a:rPr lang="en-US" sz="2000" b="1" dirty="0"/>
              <a:t>accountability mechanisms</a:t>
            </a:r>
            <a:r>
              <a:rPr lang="en-US" sz="2000" dirty="0"/>
              <a:t> ensures that users’ rights are respected and that any data misuse is investigated promptly. These methods make AI systems safer and more transparent.</a:t>
            </a:r>
          </a:p>
        </p:txBody>
      </p:sp>
    </p:spTree>
    <p:extLst>
      <p:ext uri="{BB962C8B-B14F-4D97-AF65-F5344CB8AC3E}">
        <p14:creationId xmlns:p14="http://schemas.microsoft.com/office/powerpoint/2010/main" val="2940133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2C030-5B3B-84D0-0870-4F896724D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55553-AD42-C4EA-E1F8-4F2D6679F2CD}"/>
              </a:ext>
            </a:extLst>
          </p:cNvPr>
          <p:cNvSpPr>
            <a:spLocks noGrp="1"/>
          </p:cNvSpPr>
          <p:nvPr>
            <p:ph type="title"/>
          </p:nvPr>
        </p:nvSpPr>
        <p:spPr>
          <a:xfrm>
            <a:off x="35668" y="438706"/>
            <a:ext cx="10405174" cy="1326514"/>
          </a:xfrm>
        </p:spPr>
        <p:txBody>
          <a:bodyPr/>
          <a:lstStyle/>
          <a:p>
            <a:r>
              <a:rPr lang="en-US" dirty="0"/>
              <a:t>Consequences of Ignoring Privacy and Security</a:t>
            </a:r>
            <a:endParaRPr lang="en-ZA" dirty="0"/>
          </a:p>
        </p:txBody>
      </p:sp>
      <p:sp>
        <p:nvSpPr>
          <p:cNvPr id="3" name="Slide Number Placeholder 2">
            <a:extLst>
              <a:ext uri="{FF2B5EF4-FFF2-40B4-BE49-F238E27FC236}">
                <a16:creationId xmlns:a16="http://schemas.microsoft.com/office/drawing/2014/main" id="{B8758A6E-821B-D2C4-6305-50FABB4D996B}"/>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9</a:t>
            </a:fld>
            <a:endParaRPr lang="en-US" dirty="0"/>
          </a:p>
        </p:txBody>
      </p:sp>
      <p:sp>
        <p:nvSpPr>
          <p:cNvPr id="8" name="TextBox 7">
            <a:extLst>
              <a:ext uri="{FF2B5EF4-FFF2-40B4-BE49-F238E27FC236}">
                <a16:creationId xmlns:a16="http://schemas.microsoft.com/office/drawing/2014/main" id="{FD723538-B72C-C249-82E9-75B1595E39D9}"/>
              </a:ext>
            </a:extLst>
          </p:cNvPr>
          <p:cNvSpPr txBox="1"/>
          <p:nvPr/>
        </p:nvSpPr>
        <p:spPr>
          <a:xfrm>
            <a:off x="911352" y="1862742"/>
            <a:ext cx="9431021" cy="2862322"/>
          </a:xfrm>
          <a:prstGeom prst="rect">
            <a:avLst/>
          </a:prstGeom>
          <a:noFill/>
        </p:spPr>
        <p:txBody>
          <a:bodyPr wrap="square">
            <a:spAutoFit/>
          </a:bodyPr>
          <a:lstStyle/>
          <a:p>
            <a:r>
              <a:rPr lang="en-US" sz="2000" dirty="0"/>
              <a:t>Ignoring privacy and security in AI can lead to severe consequences for individuals, organizations, and society. On a social level, people may lose trust in technology, face discrimination, or fall victim to scams. Economically, data breaches can result in massive financial losses and reputational damage for companies. Legally, organizations may face lawsuits, penalties, or restrictions on using AI systems. On a societal level, widespread surveillance and over-monitoring can threaten democracy and personal freedom. Therefore, maintaining strong privacy and security standards is essential to prevent harm and uphold ethical responsibility in AI deployment.</a:t>
            </a:r>
          </a:p>
        </p:txBody>
      </p:sp>
    </p:spTree>
    <p:extLst>
      <p:ext uri="{BB962C8B-B14F-4D97-AF65-F5344CB8AC3E}">
        <p14:creationId xmlns:p14="http://schemas.microsoft.com/office/powerpoint/2010/main" val="2507432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E4E8-2FFB-9ECB-428E-A28BD7B32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14853-37CB-860E-3996-56D22B28A9F2}"/>
              </a:ext>
            </a:extLst>
          </p:cNvPr>
          <p:cNvSpPr>
            <a:spLocks noGrp="1"/>
          </p:cNvSpPr>
          <p:nvPr>
            <p:ph type="title"/>
          </p:nvPr>
        </p:nvSpPr>
        <p:spPr>
          <a:xfrm>
            <a:off x="0" y="558089"/>
            <a:ext cx="8297380" cy="1326514"/>
          </a:xfrm>
        </p:spPr>
        <p:txBody>
          <a:bodyPr/>
          <a:lstStyle/>
          <a:p>
            <a:r>
              <a:rPr lang="en-IN" dirty="0"/>
              <a:t>Emerging and Global Challenges</a:t>
            </a:r>
            <a:endParaRPr lang="en-ZA" dirty="0"/>
          </a:p>
        </p:txBody>
      </p:sp>
      <p:sp>
        <p:nvSpPr>
          <p:cNvPr id="4" name="Text Placeholder 3">
            <a:extLst>
              <a:ext uri="{FF2B5EF4-FFF2-40B4-BE49-F238E27FC236}">
                <a16:creationId xmlns:a16="http://schemas.microsoft.com/office/drawing/2014/main" id="{7BCCCD73-744F-87F6-8A80-98E3F2C46051}"/>
              </a:ext>
            </a:extLst>
          </p:cNvPr>
          <p:cNvSpPr>
            <a:spLocks noGrp="1"/>
          </p:cNvSpPr>
          <p:nvPr>
            <p:ph type="body" sz="quarter" idx="13"/>
          </p:nvPr>
        </p:nvSpPr>
        <p:spPr>
          <a:xfrm>
            <a:off x="726396" y="1884603"/>
            <a:ext cx="9561253" cy="2833312"/>
          </a:xfrm>
        </p:spPr>
        <p:txBody>
          <a:bodyPr>
            <a:noAutofit/>
          </a:bodyPr>
          <a:lstStyle/>
          <a:p>
            <a:pPr marL="0" indent="0">
              <a:buNone/>
            </a:pPr>
            <a:r>
              <a:rPr lang="en-US" dirty="0"/>
              <a:t>As AI continues to evolve, new challenges are emerging that make privacy and security even more complex. </a:t>
            </a:r>
            <a:r>
              <a:rPr lang="en-US" b="1" dirty="0"/>
              <a:t>Deepfakes</a:t>
            </a:r>
            <a:r>
              <a:rPr lang="en-US" dirty="0"/>
              <a:t>, for instance, use AI to generate realistic fake videos and images, leading to misinformation and manipulation. </a:t>
            </a:r>
            <a:r>
              <a:rPr lang="en-US" b="1" dirty="0"/>
              <a:t>International data sharing</a:t>
            </a:r>
            <a:r>
              <a:rPr lang="en-US" dirty="0"/>
              <a:t> presents another challenge because data often crosses borders where privacy laws differ. </a:t>
            </a:r>
            <a:r>
              <a:rPr lang="en-US" b="1" dirty="0"/>
              <a:t>Authoritarian surveillance</a:t>
            </a:r>
            <a:r>
              <a:rPr lang="en-US" dirty="0"/>
              <a:t> in some countries raises concerns about human rights violations and lack of freedom. Moreover, the issue of </a:t>
            </a:r>
            <a:r>
              <a:rPr lang="en-US" b="1" dirty="0"/>
              <a:t>data ownership</a:t>
            </a:r>
            <a:r>
              <a:rPr lang="en-US" dirty="0"/>
              <a:t> remains unresolved—whether personal data belongs to individuals, companies, or governments is still a global debate. Addressing these challenges requires international cooperation and stronger ethical frameworks.</a:t>
            </a:r>
          </a:p>
        </p:txBody>
      </p:sp>
      <p:sp>
        <p:nvSpPr>
          <p:cNvPr id="3" name="Slide Number Placeholder 2">
            <a:extLst>
              <a:ext uri="{FF2B5EF4-FFF2-40B4-BE49-F238E27FC236}">
                <a16:creationId xmlns:a16="http://schemas.microsoft.com/office/drawing/2014/main" id="{4439E4AC-07D0-5CA2-4530-0C9B53186CAB}"/>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1600122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4BC45-1552-B713-ACF5-9381AE9C8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2272C-F566-9A60-1345-9EBD34E2449B}"/>
              </a:ext>
            </a:extLst>
          </p:cNvPr>
          <p:cNvSpPr>
            <a:spLocks noGrp="1"/>
          </p:cNvSpPr>
          <p:nvPr>
            <p:ph type="title"/>
          </p:nvPr>
        </p:nvSpPr>
        <p:spPr>
          <a:xfrm>
            <a:off x="0" y="596999"/>
            <a:ext cx="8297380" cy="1326514"/>
          </a:xfrm>
        </p:spPr>
        <p:txBody>
          <a:bodyPr/>
          <a:lstStyle/>
          <a:p>
            <a:r>
              <a:rPr lang="en-US" dirty="0"/>
              <a:t>Role of Ethics in AI Development</a:t>
            </a:r>
            <a:endParaRPr lang="en-ZA" dirty="0"/>
          </a:p>
        </p:txBody>
      </p:sp>
      <p:sp>
        <p:nvSpPr>
          <p:cNvPr id="4" name="Text Placeholder 3">
            <a:extLst>
              <a:ext uri="{FF2B5EF4-FFF2-40B4-BE49-F238E27FC236}">
                <a16:creationId xmlns:a16="http://schemas.microsoft.com/office/drawing/2014/main" id="{D6BD7FEE-231A-41E0-6F37-446F8E3B113C}"/>
              </a:ext>
            </a:extLst>
          </p:cNvPr>
          <p:cNvSpPr>
            <a:spLocks noGrp="1"/>
          </p:cNvSpPr>
          <p:nvPr>
            <p:ph type="body" sz="quarter" idx="13"/>
          </p:nvPr>
        </p:nvSpPr>
        <p:spPr>
          <a:xfrm>
            <a:off x="745852" y="1923513"/>
            <a:ext cx="9561253" cy="3446154"/>
          </a:xfrm>
        </p:spPr>
        <p:txBody>
          <a:bodyPr>
            <a:noAutofit/>
          </a:bodyPr>
          <a:lstStyle/>
          <a:p>
            <a:pPr marL="0" indent="0">
              <a:buNone/>
            </a:pPr>
            <a:r>
              <a:rPr lang="en-US" dirty="0"/>
              <a:t>Ethics plays a central role in guiding how Artificial Intelligence is designed, developed, and used. Every stage of AI development—from data collection to algorithm design and deployment—should be grounded in ethical values such as fairness, accountability, and transparency. Ethical AI development ensures that systems respect human rights, prevent discrimination, and operate within legal and moral boundaries. For instance, when creating facial recognition or emotion-detection AI, developers must consider how the system could affect personal freedoms or reinforce social biases. Without ethical oversight, AI technologies can easily become tools of manipulation, surveillance, or control, rather than empowerment. Therefore, ethics must be seen as an ongoing responsibility rather than a one-time requirement.</a:t>
            </a:r>
          </a:p>
        </p:txBody>
      </p:sp>
      <p:sp>
        <p:nvSpPr>
          <p:cNvPr id="3" name="Slide Number Placeholder 2">
            <a:extLst>
              <a:ext uri="{FF2B5EF4-FFF2-40B4-BE49-F238E27FC236}">
                <a16:creationId xmlns:a16="http://schemas.microsoft.com/office/drawing/2014/main" id="{3F5BFB48-47BB-2007-9737-AFFA74A27DC3}"/>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1023129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F3741-8343-9CEB-83DD-171AA9DC4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15DD7-5FC3-BC7A-4EA8-52D89B1179C3}"/>
              </a:ext>
            </a:extLst>
          </p:cNvPr>
          <p:cNvSpPr>
            <a:spLocks noGrp="1"/>
          </p:cNvSpPr>
          <p:nvPr>
            <p:ph type="title"/>
          </p:nvPr>
        </p:nvSpPr>
        <p:spPr>
          <a:xfrm>
            <a:off x="0" y="855462"/>
            <a:ext cx="10405174" cy="1326514"/>
          </a:xfrm>
        </p:spPr>
        <p:txBody>
          <a:bodyPr/>
          <a:lstStyle/>
          <a:p>
            <a:r>
              <a:rPr lang="it-IT" dirty="0"/>
              <a:t>Responsible Data Management in AI</a:t>
            </a:r>
            <a:endParaRPr lang="en-ZA" dirty="0"/>
          </a:p>
        </p:txBody>
      </p:sp>
      <p:sp>
        <p:nvSpPr>
          <p:cNvPr id="3" name="Slide Number Placeholder 2">
            <a:extLst>
              <a:ext uri="{FF2B5EF4-FFF2-40B4-BE49-F238E27FC236}">
                <a16:creationId xmlns:a16="http://schemas.microsoft.com/office/drawing/2014/main" id="{A03D6A83-1E0A-63E3-D208-A609DCD4FA96}"/>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12</a:t>
            </a:fld>
            <a:endParaRPr lang="en-US" dirty="0"/>
          </a:p>
        </p:txBody>
      </p:sp>
      <p:sp>
        <p:nvSpPr>
          <p:cNvPr id="8" name="TextBox 7">
            <a:extLst>
              <a:ext uri="{FF2B5EF4-FFF2-40B4-BE49-F238E27FC236}">
                <a16:creationId xmlns:a16="http://schemas.microsoft.com/office/drawing/2014/main" id="{CD1F6115-3946-7FBB-398A-DC0081158E8B}"/>
              </a:ext>
            </a:extLst>
          </p:cNvPr>
          <p:cNvSpPr txBox="1"/>
          <p:nvPr/>
        </p:nvSpPr>
        <p:spPr>
          <a:xfrm>
            <a:off x="911352" y="2181976"/>
            <a:ext cx="9431021" cy="3477875"/>
          </a:xfrm>
          <a:prstGeom prst="rect">
            <a:avLst/>
          </a:prstGeom>
          <a:noFill/>
        </p:spPr>
        <p:txBody>
          <a:bodyPr wrap="square">
            <a:spAutoFit/>
          </a:bodyPr>
          <a:lstStyle/>
          <a:p>
            <a:r>
              <a:rPr lang="en-US" sz="2000" dirty="0"/>
              <a:t>Responsible data management is one of the most effective ways to strengthen privacy and security in AI systems. This involves maintaining strict control over how data is collected, stored, processed, and shared. Organizations should clearly define the purpose of data collection and ensure that data is deleted once it is no longer needed. They must also ensure that all personal data is stored securely and accessed only by authorized individuals. Furthermore, before using any dataset to train AI models, it should be checked for bias, accuracy, and consent compliance. Implementing data retention policies, encryption standards, and anonymization techniques ensures that personal information remains protected throughout its lifecycle. Ethical data handling helps prevent misuse and builds public confidence in AI technologies.</a:t>
            </a:r>
          </a:p>
        </p:txBody>
      </p:sp>
    </p:spTree>
    <p:extLst>
      <p:ext uri="{BB962C8B-B14F-4D97-AF65-F5344CB8AC3E}">
        <p14:creationId xmlns:p14="http://schemas.microsoft.com/office/powerpoint/2010/main" val="1392717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E1C99-E4C6-835A-8FA3-487C2AFD4B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5FF777-7C32-103B-831F-E99CE0C38025}"/>
              </a:ext>
            </a:extLst>
          </p:cNvPr>
          <p:cNvSpPr>
            <a:spLocks noGrp="1"/>
          </p:cNvSpPr>
          <p:nvPr>
            <p:ph type="ctrTitle"/>
          </p:nvPr>
        </p:nvSpPr>
        <p:spPr>
          <a:xfrm>
            <a:off x="5550568" y="2241884"/>
            <a:ext cx="6641432" cy="2374232"/>
          </a:xfrm>
        </p:spPr>
        <p:txBody>
          <a:bodyPr>
            <a:normAutofit/>
          </a:bodyPr>
          <a:lstStyle/>
          <a:p>
            <a:r>
              <a:rPr lang="en-US" sz="4400" dirty="0"/>
              <a:t>examples for Privacy and Security in AI Ethics </a:t>
            </a:r>
          </a:p>
        </p:txBody>
      </p:sp>
    </p:spTree>
    <p:extLst>
      <p:ext uri="{BB962C8B-B14F-4D97-AF65-F5344CB8AC3E}">
        <p14:creationId xmlns:p14="http://schemas.microsoft.com/office/powerpoint/2010/main" val="1259721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97A14-647D-40D1-3593-4A2665088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FF5F2-E219-392E-A143-957D387F3AC8}"/>
              </a:ext>
            </a:extLst>
          </p:cNvPr>
          <p:cNvSpPr>
            <a:spLocks noGrp="1"/>
          </p:cNvSpPr>
          <p:nvPr>
            <p:ph type="title"/>
          </p:nvPr>
        </p:nvSpPr>
        <p:spPr>
          <a:xfrm>
            <a:off x="0" y="855462"/>
            <a:ext cx="10405174" cy="1326514"/>
          </a:xfrm>
        </p:spPr>
        <p:txBody>
          <a:bodyPr/>
          <a:lstStyle/>
          <a:p>
            <a:r>
              <a:rPr lang="it-IT" dirty="0"/>
              <a:t>1. Cambridge Analytica –</a:t>
            </a:r>
            <a:br>
              <a:rPr lang="it-IT" dirty="0"/>
            </a:br>
            <a:r>
              <a:rPr lang="it-IT" dirty="0"/>
              <a:t>    Facebook Data Scandal (2018)</a:t>
            </a:r>
            <a:endParaRPr lang="en-ZA" dirty="0"/>
          </a:p>
        </p:txBody>
      </p:sp>
      <p:sp>
        <p:nvSpPr>
          <p:cNvPr id="3" name="Slide Number Placeholder 2">
            <a:extLst>
              <a:ext uri="{FF2B5EF4-FFF2-40B4-BE49-F238E27FC236}">
                <a16:creationId xmlns:a16="http://schemas.microsoft.com/office/drawing/2014/main" id="{3FE6114D-F55A-4A55-1589-45A4DC3EED8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14</a:t>
            </a:fld>
            <a:endParaRPr lang="en-US" dirty="0"/>
          </a:p>
        </p:txBody>
      </p:sp>
      <p:sp>
        <p:nvSpPr>
          <p:cNvPr id="8" name="TextBox 7">
            <a:extLst>
              <a:ext uri="{FF2B5EF4-FFF2-40B4-BE49-F238E27FC236}">
                <a16:creationId xmlns:a16="http://schemas.microsoft.com/office/drawing/2014/main" id="{E4E75A7A-8495-E4A3-65AD-26C5FABAB703}"/>
              </a:ext>
            </a:extLst>
          </p:cNvPr>
          <p:cNvSpPr txBox="1"/>
          <p:nvPr/>
        </p:nvSpPr>
        <p:spPr>
          <a:xfrm>
            <a:off x="911352" y="2181976"/>
            <a:ext cx="9431021" cy="400110"/>
          </a:xfrm>
          <a:prstGeom prst="rect">
            <a:avLst/>
          </a:prstGeom>
          <a:noFill/>
        </p:spPr>
        <p:txBody>
          <a:bodyPr wrap="square">
            <a:spAutoFit/>
          </a:bodyPr>
          <a:lstStyle/>
          <a:p>
            <a:endParaRPr lang="en-US" sz="2000" dirty="0"/>
          </a:p>
        </p:txBody>
      </p:sp>
      <p:sp>
        <p:nvSpPr>
          <p:cNvPr id="5" name="Rectangle 2">
            <a:extLst>
              <a:ext uri="{FF2B5EF4-FFF2-40B4-BE49-F238E27FC236}">
                <a16:creationId xmlns:a16="http://schemas.microsoft.com/office/drawing/2014/main" id="{584234FD-3622-14BF-C600-9AFD9F192B36}"/>
              </a:ext>
            </a:extLst>
          </p:cNvPr>
          <p:cNvSpPr>
            <a:spLocks noChangeArrowheads="1"/>
          </p:cNvSpPr>
          <p:nvPr/>
        </p:nvSpPr>
        <p:spPr bwMode="auto">
          <a:xfrm>
            <a:off x="730612" y="2138943"/>
            <a:ext cx="8924665"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Type:</a:t>
            </a:r>
            <a:r>
              <a:rPr kumimoji="0" lang="en-US" altLang="en-US" sz="2000" b="0" i="0" u="none" strike="noStrike" cap="none" normalizeH="0" baseline="0" dirty="0">
                <a:ln>
                  <a:noFill/>
                </a:ln>
                <a:solidFill>
                  <a:schemeClr val="tx1"/>
                </a:solidFill>
                <a:effectLst/>
                <a:latin typeface="Arial" panose="020B0604020202020204" pitchFamily="34" charset="0"/>
              </a:rPr>
              <a:t> Privacy Violation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What Happened:</a:t>
            </a:r>
            <a:r>
              <a:rPr kumimoji="0" lang="en-US" altLang="en-US" sz="2000" b="0" i="0" u="none" strike="noStrike" cap="none" normalizeH="0" baseline="0" dirty="0">
                <a:ln>
                  <a:noFill/>
                </a:ln>
                <a:solidFill>
                  <a:schemeClr val="tx1"/>
                </a:solidFill>
                <a:effectLst/>
                <a:latin typeface="Arial" panose="020B0604020202020204" pitchFamily="34" charset="0"/>
              </a:rPr>
              <a:t> Data from over </a:t>
            </a:r>
            <a:r>
              <a:rPr kumimoji="0" lang="en-US" altLang="en-US" sz="2000" b="1" i="0" u="none" strike="noStrike" cap="none" normalizeH="0" baseline="0" dirty="0">
                <a:ln>
                  <a:noFill/>
                </a:ln>
                <a:solidFill>
                  <a:schemeClr val="tx1"/>
                </a:solidFill>
                <a:effectLst/>
                <a:latin typeface="Arial" panose="020B0604020202020204" pitchFamily="34" charset="0"/>
              </a:rPr>
              <a:t>87 million Facebook users</a:t>
            </a:r>
            <a:r>
              <a:rPr kumimoji="0" lang="en-US" altLang="en-US" sz="2000" b="0" i="0" u="none" strike="noStrike" cap="none" normalizeH="0" baseline="0" dirty="0">
                <a:ln>
                  <a:noFill/>
                </a:ln>
                <a:solidFill>
                  <a:schemeClr val="tx1"/>
                </a:solidFill>
                <a:effectLst/>
                <a:latin typeface="Arial" panose="020B0604020202020204" pitchFamily="34" charset="0"/>
              </a:rPr>
              <a:t> was collected 	</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without consent through a quiz app and used for </a:t>
            </a:r>
            <a:r>
              <a:rPr kumimoji="0" lang="en-US" altLang="en-US" sz="2000" b="1" i="0" u="none" strike="noStrike" cap="none" normalizeH="0" baseline="0" dirty="0">
                <a:ln>
                  <a:noFill/>
                </a:ln>
                <a:solidFill>
                  <a:schemeClr val="tx1"/>
                </a:solidFill>
                <a:effectLst/>
                <a:latin typeface="Arial" panose="020B0604020202020204" pitchFamily="34" charset="0"/>
              </a:rPr>
              <a:t>political 	</a:t>
            </a:r>
            <a:r>
              <a:rPr lang="en-US" altLang="en-US" sz="2000" b="1" dirty="0">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manipulation</a:t>
            </a:r>
            <a:r>
              <a:rPr kumimoji="0" lang="en-US" altLang="en-US" sz="2000" b="0" i="0" u="none" strike="noStrike" cap="none" normalizeH="0" baseline="0" dirty="0">
                <a:ln>
                  <a:noFill/>
                </a:ln>
                <a:solidFill>
                  <a:schemeClr val="tx1"/>
                </a:solidFill>
                <a:effectLst/>
                <a:latin typeface="Arial" panose="020B0604020202020204" pitchFamily="34" charset="0"/>
              </a:rPr>
              <a:t> during elections.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Why It Matters: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Showed how personal data can be exploited for unethical purposes.</a:t>
            </a: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Sparked global discussions on </a:t>
            </a:r>
            <a:r>
              <a:rPr kumimoji="0" lang="en-US" altLang="en-US" sz="2000" b="1" i="0" u="none" strike="noStrike" cap="none" normalizeH="0" baseline="0" dirty="0">
                <a:ln>
                  <a:noFill/>
                </a:ln>
                <a:solidFill>
                  <a:schemeClr val="tx1"/>
                </a:solidFill>
                <a:effectLst/>
                <a:latin typeface="Arial" panose="020B0604020202020204" pitchFamily="34" charset="0"/>
              </a:rPr>
              <a:t>AI data ethics, user consent, and</a:t>
            </a:r>
          </a:p>
          <a:p>
            <a:pPr lvl="1" eaLnBrk="0" fontAlgn="base" hangingPunct="0">
              <a:spcBef>
                <a:spcPct val="0"/>
              </a:spcBef>
              <a:spcAft>
                <a:spcPct val="0"/>
              </a:spcAft>
            </a:pPr>
            <a:r>
              <a:rPr lang="en-US" altLang="en-US" sz="2000" b="1" dirty="0">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transparency</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052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E211-F869-94A7-81EC-9342952EB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08B56-10E9-ADCD-2030-8CC51CF4114D}"/>
              </a:ext>
            </a:extLst>
          </p:cNvPr>
          <p:cNvSpPr>
            <a:spLocks noGrp="1"/>
          </p:cNvSpPr>
          <p:nvPr>
            <p:ph type="title"/>
          </p:nvPr>
        </p:nvSpPr>
        <p:spPr>
          <a:xfrm>
            <a:off x="0" y="855462"/>
            <a:ext cx="10405174" cy="1326514"/>
          </a:xfrm>
        </p:spPr>
        <p:txBody>
          <a:bodyPr/>
          <a:lstStyle/>
          <a:p>
            <a:r>
              <a:rPr lang="it-IT" dirty="0"/>
              <a:t>1. Cambridge Analytica –</a:t>
            </a:r>
            <a:br>
              <a:rPr lang="it-IT" dirty="0"/>
            </a:br>
            <a:r>
              <a:rPr lang="it-IT" dirty="0"/>
              <a:t>    Facebook Data Scandal (2018)</a:t>
            </a:r>
            <a:endParaRPr lang="en-ZA" dirty="0"/>
          </a:p>
        </p:txBody>
      </p:sp>
      <p:sp>
        <p:nvSpPr>
          <p:cNvPr id="3" name="Slide Number Placeholder 2">
            <a:extLst>
              <a:ext uri="{FF2B5EF4-FFF2-40B4-BE49-F238E27FC236}">
                <a16:creationId xmlns:a16="http://schemas.microsoft.com/office/drawing/2014/main" id="{A85A302E-351D-E272-EA3A-16246ED11C4E}"/>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15</a:t>
            </a:fld>
            <a:endParaRPr lang="en-US" dirty="0"/>
          </a:p>
        </p:txBody>
      </p:sp>
      <p:sp>
        <p:nvSpPr>
          <p:cNvPr id="8" name="TextBox 7">
            <a:extLst>
              <a:ext uri="{FF2B5EF4-FFF2-40B4-BE49-F238E27FC236}">
                <a16:creationId xmlns:a16="http://schemas.microsoft.com/office/drawing/2014/main" id="{F977B393-65A3-8B27-F4E7-050208926F66}"/>
              </a:ext>
            </a:extLst>
          </p:cNvPr>
          <p:cNvSpPr txBox="1"/>
          <p:nvPr/>
        </p:nvSpPr>
        <p:spPr>
          <a:xfrm>
            <a:off x="911352" y="2181976"/>
            <a:ext cx="9431021" cy="400110"/>
          </a:xfrm>
          <a:prstGeom prst="rect">
            <a:avLst/>
          </a:prstGeom>
          <a:noFill/>
        </p:spPr>
        <p:txBody>
          <a:bodyPr wrap="square">
            <a:spAutoFit/>
          </a:bodyPr>
          <a:lstStyle/>
          <a:p>
            <a:endParaRPr lang="en-US" sz="2000" dirty="0"/>
          </a:p>
        </p:txBody>
      </p:sp>
      <p:sp>
        <p:nvSpPr>
          <p:cNvPr id="5" name="Rectangle 2">
            <a:extLst>
              <a:ext uri="{FF2B5EF4-FFF2-40B4-BE49-F238E27FC236}">
                <a16:creationId xmlns:a16="http://schemas.microsoft.com/office/drawing/2014/main" id="{DC0006E2-0476-5725-E848-7595F643DB46}"/>
              </a:ext>
            </a:extLst>
          </p:cNvPr>
          <p:cNvSpPr>
            <a:spLocks noChangeArrowheads="1"/>
          </p:cNvSpPr>
          <p:nvPr/>
        </p:nvSpPr>
        <p:spPr bwMode="auto">
          <a:xfrm>
            <a:off x="911351" y="2215826"/>
            <a:ext cx="1115282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sz="1600" dirty="0"/>
              <a:t>The </a:t>
            </a:r>
            <a:r>
              <a:rPr lang="en-US" sz="1600" b="1" dirty="0"/>
              <a:t>Cambridge Analytica–Facebook data scandal (2018)</a:t>
            </a:r>
            <a:r>
              <a:rPr lang="en-US" sz="1600" dirty="0"/>
              <a:t> was one of the biggest privacy</a:t>
            </a:r>
          </a:p>
          <a:p>
            <a:pPr lvl="0" eaLnBrk="0" fontAlgn="base" hangingPunct="0">
              <a:spcBef>
                <a:spcPct val="0"/>
              </a:spcBef>
              <a:spcAft>
                <a:spcPct val="0"/>
              </a:spcAft>
            </a:pPr>
            <a:r>
              <a:rPr lang="en-US" sz="1600" dirty="0"/>
              <a:t>   violations in the digital age. A political consulting company called </a:t>
            </a:r>
            <a:r>
              <a:rPr lang="en-US" sz="1600" b="1" dirty="0"/>
              <a:t>Cambridge Analytica</a:t>
            </a:r>
          </a:p>
          <a:p>
            <a:pPr lvl="0" eaLnBrk="0" fontAlgn="base" hangingPunct="0">
              <a:spcBef>
                <a:spcPct val="0"/>
              </a:spcBef>
              <a:spcAft>
                <a:spcPct val="0"/>
              </a:spcAft>
            </a:pPr>
            <a:r>
              <a:rPr lang="en-US" sz="1600" b="1" dirty="0"/>
              <a:t>  </a:t>
            </a:r>
            <a:r>
              <a:rPr lang="en-US" sz="1600" dirty="0"/>
              <a:t>collected data from millions of Facebook users without their permission using a quiz app called </a:t>
            </a:r>
            <a:r>
              <a:rPr lang="en-US" sz="1600" i="1" dirty="0"/>
              <a:t>“This Is Your</a:t>
            </a:r>
          </a:p>
          <a:p>
            <a:pPr lvl="0" eaLnBrk="0" fontAlgn="base" hangingPunct="0">
              <a:spcBef>
                <a:spcPct val="0"/>
              </a:spcBef>
              <a:spcAft>
                <a:spcPct val="0"/>
              </a:spcAft>
            </a:pPr>
            <a:r>
              <a:rPr lang="en-US" sz="1600" i="1" dirty="0"/>
              <a:t>  Digital Life.”</a:t>
            </a:r>
            <a:r>
              <a:rPr lang="en-US" sz="1600" dirty="0"/>
              <a:t> Although only a few hundred thousand people took the quiz, the app also gathered personal</a:t>
            </a:r>
          </a:p>
          <a:p>
            <a:pPr lvl="0" eaLnBrk="0" fontAlgn="base" hangingPunct="0">
              <a:spcBef>
                <a:spcPct val="0"/>
              </a:spcBef>
              <a:spcAft>
                <a:spcPct val="0"/>
              </a:spcAft>
            </a:pPr>
            <a:r>
              <a:rPr lang="en-US" sz="1600" dirty="0"/>
              <a:t>  information from their Facebook friends, leading to data from about </a:t>
            </a:r>
            <a:r>
              <a:rPr lang="en-US" sz="1600" b="1" dirty="0"/>
              <a:t>87 million users</a:t>
            </a:r>
            <a:r>
              <a:rPr lang="en-US" sz="1600" dirty="0"/>
              <a:t> being harvested. This data</a:t>
            </a:r>
          </a:p>
          <a:p>
            <a:pPr lvl="0" eaLnBrk="0" fontAlgn="base" hangingPunct="0">
              <a:spcBef>
                <a:spcPct val="0"/>
              </a:spcBef>
              <a:spcAft>
                <a:spcPct val="0"/>
              </a:spcAft>
            </a:pPr>
            <a:r>
              <a:rPr lang="en-US" sz="1600" dirty="0"/>
              <a:t>  was used to create psychological profiles and target people with </a:t>
            </a:r>
            <a:r>
              <a:rPr lang="en-US" sz="1600" b="1" dirty="0"/>
              <a:t>political advertisements</a:t>
            </a:r>
            <a:r>
              <a:rPr lang="en-US" sz="1600" dirty="0"/>
              <a:t> during events like the</a:t>
            </a:r>
          </a:p>
          <a:p>
            <a:pPr lvl="0" eaLnBrk="0" fontAlgn="base" hangingPunct="0">
              <a:spcBef>
                <a:spcPct val="0"/>
              </a:spcBef>
              <a:spcAft>
                <a:spcPct val="0"/>
              </a:spcAft>
            </a:pPr>
            <a:r>
              <a:rPr lang="en-US" sz="1600" b="1" dirty="0"/>
              <a:t>  2016 U.S. Presidential Election</a:t>
            </a:r>
            <a:r>
              <a:rPr lang="en-US" sz="1600" dirty="0"/>
              <a:t> and the </a:t>
            </a:r>
            <a:r>
              <a:rPr lang="en-US" sz="1600" b="1" dirty="0"/>
              <a:t>Brexit campaign</a:t>
            </a:r>
            <a:r>
              <a:rPr lang="en-US" sz="1600" dirty="0"/>
              <a:t>. The scandal exposed how easily personal data can be</a:t>
            </a:r>
          </a:p>
          <a:p>
            <a:pPr lvl="0" eaLnBrk="0" fontAlgn="base" hangingPunct="0">
              <a:spcBef>
                <a:spcPct val="0"/>
              </a:spcBef>
              <a:spcAft>
                <a:spcPct val="0"/>
              </a:spcAft>
            </a:pPr>
            <a:r>
              <a:rPr lang="en-US" sz="1600" dirty="0"/>
              <a:t>  misused by AI-driven analytics to influence opinions and manipulate voters. Facebook faced global criticism and a</a:t>
            </a:r>
          </a:p>
          <a:p>
            <a:pPr lvl="0" eaLnBrk="0" fontAlgn="base" hangingPunct="0">
              <a:spcBef>
                <a:spcPct val="0"/>
              </a:spcBef>
              <a:spcAft>
                <a:spcPct val="0"/>
              </a:spcAft>
            </a:pPr>
            <a:r>
              <a:rPr lang="en-US" sz="1600" b="1" dirty="0"/>
              <a:t>  $5 billion fine</a:t>
            </a:r>
            <a:r>
              <a:rPr lang="en-US" sz="1600" dirty="0"/>
              <a:t> for failing to protect user data. The incident became a major example of why </a:t>
            </a:r>
            <a:r>
              <a:rPr lang="en-US" sz="1600" b="1" dirty="0"/>
              <a:t>privacy, consent,</a:t>
            </a:r>
          </a:p>
          <a:p>
            <a:pPr lvl="0" eaLnBrk="0" fontAlgn="base" hangingPunct="0">
              <a:spcBef>
                <a:spcPct val="0"/>
              </a:spcBef>
              <a:spcAft>
                <a:spcPct val="0"/>
              </a:spcAft>
            </a:pPr>
            <a:r>
              <a:rPr lang="en-US" sz="1600" b="1" dirty="0"/>
              <a:t>  transparency, and data security</a:t>
            </a:r>
            <a:r>
              <a:rPr lang="en-US" sz="1600" dirty="0"/>
              <a:t> are essential in </a:t>
            </a:r>
            <a:r>
              <a:rPr lang="en-US" sz="1600" b="1" dirty="0"/>
              <a:t>AI ethics</a:t>
            </a:r>
            <a:r>
              <a:rPr lang="en-US" sz="1600" dirty="0"/>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735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FF7EB-7466-0791-9AB3-78AEB055E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E8189-3D94-83BD-0121-453C7A0D9B19}"/>
              </a:ext>
            </a:extLst>
          </p:cNvPr>
          <p:cNvSpPr>
            <a:spLocks noGrp="1"/>
          </p:cNvSpPr>
          <p:nvPr>
            <p:ph type="title"/>
          </p:nvPr>
        </p:nvSpPr>
        <p:spPr>
          <a:xfrm>
            <a:off x="0" y="596999"/>
            <a:ext cx="8297380" cy="1326514"/>
          </a:xfrm>
        </p:spPr>
        <p:txBody>
          <a:bodyPr/>
          <a:lstStyle/>
          <a:p>
            <a:r>
              <a:rPr lang="en-IN" dirty="0"/>
              <a:t>2. Healthcare Data Breaches</a:t>
            </a:r>
            <a:endParaRPr lang="en-ZA" dirty="0"/>
          </a:p>
        </p:txBody>
      </p:sp>
      <p:sp>
        <p:nvSpPr>
          <p:cNvPr id="3" name="Slide Number Placeholder 2">
            <a:extLst>
              <a:ext uri="{FF2B5EF4-FFF2-40B4-BE49-F238E27FC236}">
                <a16:creationId xmlns:a16="http://schemas.microsoft.com/office/drawing/2014/main" id="{5B28C572-5508-E13C-D83F-E61B868117B0}"/>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16</a:t>
            </a:fld>
            <a:endParaRPr lang="en-US" dirty="0"/>
          </a:p>
        </p:txBody>
      </p:sp>
      <p:sp>
        <p:nvSpPr>
          <p:cNvPr id="8" name="Rectangle 2">
            <a:extLst>
              <a:ext uri="{FF2B5EF4-FFF2-40B4-BE49-F238E27FC236}">
                <a16:creationId xmlns:a16="http://schemas.microsoft.com/office/drawing/2014/main" id="{79BAC5F1-8EED-7EC7-FD29-C39EF62113FD}"/>
              </a:ext>
            </a:extLst>
          </p:cNvPr>
          <p:cNvSpPr>
            <a:spLocks noChangeArrowheads="1"/>
          </p:cNvSpPr>
          <p:nvPr/>
        </p:nvSpPr>
        <p:spPr bwMode="auto">
          <a:xfrm>
            <a:off x="911352" y="1971991"/>
            <a:ext cx="865238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Type:</a:t>
            </a:r>
            <a:r>
              <a:rPr kumimoji="0" lang="en-US" altLang="en-US" sz="2000" b="0" i="0" u="none" strike="noStrike" cap="none" normalizeH="0" baseline="0" dirty="0">
                <a:ln>
                  <a:noFill/>
                </a:ln>
                <a:solidFill>
                  <a:schemeClr val="tx1"/>
                </a:solidFill>
                <a:effectLst/>
                <a:latin typeface="Arial" panose="020B0604020202020204" pitchFamily="34" charset="0"/>
              </a:rPr>
              <a:t> Privacy and Security Breach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Example:</a:t>
            </a:r>
            <a:r>
              <a:rPr kumimoji="0" lang="en-US" altLang="en-US" sz="2000" b="0" i="0" u="none" strike="noStrike" cap="none" normalizeH="0" baseline="0" dirty="0">
                <a:ln>
                  <a:noFill/>
                </a:ln>
                <a:solidFill>
                  <a:schemeClr val="tx1"/>
                </a:solidFill>
                <a:effectLst/>
                <a:latin typeface="Arial" panose="020B0604020202020204" pitchFamily="34" charset="0"/>
              </a:rPr>
              <a:t> In 2023, </a:t>
            </a:r>
            <a:r>
              <a:rPr kumimoji="0" lang="en-US" altLang="en-US" sz="2000" b="1" i="0" u="none" strike="noStrike" cap="none" normalizeH="0" baseline="0" dirty="0">
                <a:ln>
                  <a:noFill/>
                </a:ln>
                <a:solidFill>
                  <a:schemeClr val="tx1"/>
                </a:solidFill>
                <a:effectLst/>
                <a:latin typeface="Arial" panose="020B0604020202020204" pitchFamily="34" charset="0"/>
              </a:rPr>
              <a:t>HCA Healthcare</a:t>
            </a:r>
            <a:r>
              <a:rPr kumimoji="0" lang="en-US" altLang="en-US" sz="2000" b="0" i="0" u="none" strike="noStrike" cap="none" normalizeH="0" baseline="0" dirty="0">
                <a:ln>
                  <a:noFill/>
                </a:ln>
                <a:solidFill>
                  <a:schemeClr val="tx1"/>
                </a:solidFill>
                <a:effectLst/>
                <a:latin typeface="Arial" panose="020B0604020202020204" pitchFamily="34" charset="0"/>
              </a:rPr>
              <a:t> in the U.S. suffered a major breach 	      exposing data of over </a:t>
            </a:r>
            <a:r>
              <a:rPr kumimoji="0" lang="en-US" altLang="en-US" sz="2000" b="1" i="0" u="none" strike="noStrike" cap="none" normalizeH="0" baseline="0" dirty="0">
                <a:ln>
                  <a:noFill/>
                </a:ln>
                <a:solidFill>
                  <a:schemeClr val="tx1"/>
                </a:solidFill>
                <a:effectLst/>
                <a:latin typeface="Arial" panose="020B0604020202020204" pitchFamily="34" charset="0"/>
              </a:rPr>
              <a:t>11 million patients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Why It Matters: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AI systems often process sensitive health data.</a:t>
            </a: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Weak security or mismanagement can lead to </a:t>
            </a:r>
            <a:r>
              <a:rPr kumimoji="0" lang="en-US" altLang="en-US" sz="2000" b="1" i="0" u="none" strike="noStrike" cap="none" normalizeH="0" baseline="0" dirty="0">
                <a:ln>
                  <a:noFill/>
                </a:ln>
                <a:solidFill>
                  <a:schemeClr val="tx1"/>
                </a:solidFill>
                <a:effectLst/>
                <a:latin typeface="Arial" panose="020B0604020202020204" pitchFamily="34" charset="0"/>
              </a:rPr>
              <a:t>identity theft,</a:t>
            </a:r>
          </a:p>
          <a:p>
            <a:pPr lvl="1" eaLnBrk="0" fontAlgn="base" hangingPunct="0">
              <a:spcBef>
                <a:spcPct val="0"/>
              </a:spcBef>
              <a:spcAft>
                <a:spcPct val="0"/>
              </a:spcAft>
            </a:pPr>
            <a:r>
              <a:rPr lang="en-US" altLang="en-US" sz="2000" b="1" dirty="0">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discrimination</a:t>
            </a:r>
            <a:r>
              <a:rPr kumimoji="0" lang="en-US" altLang="en-US" sz="2000" b="0" i="0" u="none" strike="noStrike" cap="none" normalizeH="0" baseline="0" dirty="0">
                <a:ln>
                  <a:noFill/>
                </a:ln>
                <a:solidFill>
                  <a:schemeClr val="tx1"/>
                </a:solidFill>
                <a:effectLst/>
                <a:latin typeface="Arial" panose="020B0604020202020204" pitchFamily="34" charset="0"/>
              </a:rPr>
              <a:t>, and loss of trust in AI-driven healthcare.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8033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BC589-D6AD-F468-5BC6-29498EE03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64174-6EF0-C3DD-E5FE-219AA31F738F}"/>
              </a:ext>
            </a:extLst>
          </p:cNvPr>
          <p:cNvSpPr>
            <a:spLocks noGrp="1"/>
          </p:cNvSpPr>
          <p:nvPr>
            <p:ph type="title"/>
          </p:nvPr>
        </p:nvSpPr>
        <p:spPr>
          <a:xfrm>
            <a:off x="0" y="596999"/>
            <a:ext cx="8297380" cy="1326514"/>
          </a:xfrm>
        </p:spPr>
        <p:txBody>
          <a:bodyPr/>
          <a:lstStyle/>
          <a:p>
            <a:r>
              <a:rPr lang="en-IN" dirty="0"/>
              <a:t>2. Healthcare Data Breaches</a:t>
            </a:r>
            <a:endParaRPr lang="en-ZA" dirty="0"/>
          </a:p>
        </p:txBody>
      </p:sp>
      <p:sp>
        <p:nvSpPr>
          <p:cNvPr id="3" name="Slide Number Placeholder 2">
            <a:extLst>
              <a:ext uri="{FF2B5EF4-FFF2-40B4-BE49-F238E27FC236}">
                <a16:creationId xmlns:a16="http://schemas.microsoft.com/office/drawing/2014/main" id="{FF775017-10F5-7389-5DEA-9780D062F4DD}"/>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17</a:t>
            </a:fld>
            <a:endParaRPr lang="en-US" dirty="0"/>
          </a:p>
        </p:txBody>
      </p:sp>
      <p:sp>
        <p:nvSpPr>
          <p:cNvPr id="8" name="Rectangle 2">
            <a:extLst>
              <a:ext uri="{FF2B5EF4-FFF2-40B4-BE49-F238E27FC236}">
                <a16:creationId xmlns:a16="http://schemas.microsoft.com/office/drawing/2014/main" id="{5A7CD334-0B49-BF9B-8033-8F206433286F}"/>
              </a:ext>
            </a:extLst>
          </p:cNvPr>
          <p:cNvSpPr>
            <a:spLocks noChangeArrowheads="1"/>
          </p:cNvSpPr>
          <p:nvPr/>
        </p:nvSpPr>
        <p:spPr bwMode="auto">
          <a:xfrm>
            <a:off x="707922" y="1923513"/>
            <a:ext cx="956373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b="1" dirty="0"/>
              <a:t>Healthcare data breaches</a:t>
            </a:r>
            <a:r>
              <a:rPr lang="en-US" dirty="0"/>
              <a:t> occur when sensitive medical information—such as patient records, test results, or insurance details—is accessed or stolen without authorization. These breaches are especially serious because healthcare data contains highly personal information that can be used for </a:t>
            </a:r>
            <a:r>
              <a:rPr lang="en-US" b="1" dirty="0"/>
              <a:t>identity theft, fraud, or discrimination</a:t>
            </a:r>
            <a:r>
              <a:rPr lang="en-US" dirty="0"/>
              <a:t>. For example, in 2023, </a:t>
            </a:r>
            <a:r>
              <a:rPr lang="en-US" b="1" dirty="0"/>
              <a:t>HCA Healthcare</a:t>
            </a:r>
            <a:r>
              <a:rPr lang="en-US" dirty="0"/>
              <a:t>, one of the largest hospital networks in the U.S., suffered a major data breach that exposed the personal details of over </a:t>
            </a:r>
            <a:r>
              <a:rPr lang="en-US" b="1" dirty="0"/>
              <a:t>11 million patients</a:t>
            </a:r>
            <a:r>
              <a:rPr lang="en-US" dirty="0"/>
              <a:t>, including names, addresses, and appointment information. Many healthcare organizations use </a:t>
            </a:r>
            <a:r>
              <a:rPr lang="en-US" b="1" dirty="0"/>
              <a:t>AI systems</a:t>
            </a:r>
            <a:r>
              <a:rPr lang="en-US" dirty="0"/>
              <a:t> to store, analyze, and share patient data, but weak security measures, outdated systems, or cyberattacks can make them vulnerable. Such incidents highlight the importance of </a:t>
            </a:r>
            <a:r>
              <a:rPr lang="en-US" b="1" dirty="0"/>
              <a:t>strong encryption, secure data storage, regular audits, and staff awareness</a:t>
            </a:r>
            <a:r>
              <a:rPr lang="en-US" dirty="0"/>
              <a:t>. In the context of </a:t>
            </a:r>
            <a:r>
              <a:rPr lang="en-US" b="1" dirty="0"/>
              <a:t>AI ethics</a:t>
            </a:r>
            <a:r>
              <a:rPr lang="en-US" dirty="0"/>
              <a:t>, healthcare data breaches show why protecting privacy and ensuring data security are crucial to maintaining </a:t>
            </a:r>
            <a:r>
              <a:rPr lang="en-US" b="1" dirty="0"/>
              <a:t>trust, confidentiality, and fairness</a:t>
            </a:r>
            <a:r>
              <a:rPr lang="en-US" dirty="0"/>
              <a:t> in modern medical technology.</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9613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3A11E-6C03-CE6C-21D8-9DFF42FD2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E652-BD2C-FF6A-55E3-CAE164B55046}"/>
              </a:ext>
            </a:extLst>
          </p:cNvPr>
          <p:cNvSpPr>
            <a:spLocks noGrp="1"/>
          </p:cNvSpPr>
          <p:nvPr>
            <p:ph type="title"/>
          </p:nvPr>
        </p:nvSpPr>
        <p:spPr>
          <a:xfrm>
            <a:off x="0" y="596999"/>
            <a:ext cx="8297380" cy="1326514"/>
          </a:xfrm>
        </p:spPr>
        <p:txBody>
          <a:bodyPr/>
          <a:lstStyle/>
          <a:p>
            <a:r>
              <a:rPr lang="en-IN" dirty="0"/>
              <a:t>3. Clearview AI – </a:t>
            </a:r>
            <a:br>
              <a:rPr lang="en-IN" dirty="0"/>
            </a:br>
            <a:r>
              <a:rPr lang="en-IN" dirty="0"/>
              <a:t>     Facial Recognition Controversy</a:t>
            </a:r>
            <a:endParaRPr lang="en-ZA" dirty="0"/>
          </a:p>
        </p:txBody>
      </p:sp>
      <p:sp>
        <p:nvSpPr>
          <p:cNvPr id="3" name="Slide Number Placeholder 2">
            <a:extLst>
              <a:ext uri="{FF2B5EF4-FFF2-40B4-BE49-F238E27FC236}">
                <a16:creationId xmlns:a16="http://schemas.microsoft.com/office/drawing/2014/main" id="{A09D8F25-CBD8-E581-402E-97FDD388B8F7}"/>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18</a:t>
            </a:fld>
            <a:endParaRPr lang="en-US" dirty="0"/>
          </a:p>
        </p:txBody>
      </p:sp>
      <p:sp>
        <p:nvSpPr>
          <p:cNvPr id="5" name="Rectangle 2">
            <a:extLst>
              <a:ext uri="{FF2B5EF4-FFF2-40B4-BE49-F238E27FC236}">
                <a16:creationId xmlns:a16="http://schemas.microsoft.com/office/drawing/2014/main" id="{354CFDEF-3C84-0EEB-B523-87DB6E2B0EB5}"/>
              </a:ext>
            </a:extLst>
          </p:cNvPr>
          <p:cNvSpPr>
            <a:spLocks noChangeArrowheads="1"/>
          </p:cNvSpPr>
          <p:nvPr/>
        </p:nvSpPr>
        <p:spPr bwMode="auto">
          <a:xfrm>
            <a:off x="911352" y="1923513"/>
            <a:ext cx="9035845"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Type:</a:t>
            </a:r>
            <a:r>
              <a:rPr kumimoji="0" lang="en-US" altLang="en-US" sz="2000" b="0" i="0" u="none" strike="noStrike" cap="none" normalizeH="0" baseline="0" dirty="0">
                <a:ln>
                  <a:noFill/>
                </a:ln>
                <a:solidFill>
                  <a:schemeClr val="tx1"/>
                </a:solidFill>
                <a:effectLst/>
                <a:latin typeface="Arial" panose="020B0604020202020204" pitchFamily="34" charset="0"/>
              </a:rPr>
              <a:t> Privacy Invasion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What Happened:</a:t>
            </a:r>
            <a:r>
              <a:rPr kumimoji="0" lang="en-US" altLang="en-US" sz="2000" b="0" i="0" u="none" strike="noStrike" cap="none" normalizeH="0" baseline="0" dirty="0">
                <a:ln>
                  <a:noFill/>
                </a:ln>
                <a:solidFill>
                  <a:schemeClr val="tx1"/>
                </a:solidFill>
                <a:effectLst/>
                <a:latin typeface="Arial" panose="020B0604020202020204" pitchFamily="34" charset="0"/>
              </a:rPr>
              <a:t> Clearview AI scraped </a:t>
            </a:r>
            <a:r>
              <a:rPr kumimoji="0" lang="en-US" altLang="en-US" sz="2000" b="1" i="0" u="none" strike="noStrike" cap="none" normalizeH="0" baseline="0" dirty="0">
                <a:ln>
                  <a:noFill/>
                </a:ln>
                <a:solidFill>
                  <a:schemeClr val="tx1"/>
                </a:solidFill>
                <a:effectLst/>
                <a:latin typeface="Arial" panose="020B0604020202020204" pitchFamily="34" charset="0"/>
              </a:rPr>
              <a:t>billions of images</a:t>
            </a:r>
            <a:r>
              <a:rPr kumimoji="0" lang="en-US" altLang="en-US" sz="2000" b="0" i="0" u="none" strike="noStrike" cap="none" normalizeH="0" baseline="0" dirty="0">
                <a:ln>
                  <a:noFill/>
                </a:ln>
                <a:solidFill>
                  <a:schemeClr val="tx1"/>
                </a:solidFill>
                <a:effectLst/>
                <a:latin typeface="Arial" panose="020B0604020202020204" pitchFamily="34" charset="0"/>
              </a:rPr>
              <a:t> from social media 		      to build facial recognition tools for law enforcement without 		      user consent.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Why It Matters: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Raises ethical questions about </a:t>
            </a:r>
            <a:r>
              <a:rPr kumimoji="0" lang="en-US" altLang="en-US" sz="2000" b="1" i="0" u="none" strike="noStrike" cap="none" normalizeH="0" baseline="0" dirty="0">
                <a:ln>
                  <a:noFill/>
                </a:ln>
                <a:solidFill>
                  <a:schemeClr val="tx1"/>
                </a:solidFill>
                <a:effectLst/>
                <a:latin typeface="Arial" panose="020B0604020202020204" pitchFamily="34" charset="0"/>
              </a:rPr>
              <a:t>surveillance, consent, and human rights</a:t>
            </a:r>
            <a:r>
              <a:rPr kumimoji="0" lang="en-US" altLang="en-US" sz="2000" b="0" i="0" u="none" strike="noStrike" cap="none" normalizeH="0" baseline="0" dirty="0">
                <a:ln>
                  <a:noFill/>
                </a:ln>
                <a:solidFill>
                  <a:schemeClr val="tx1"/>
                </a:solidFill>
                <a:effectLst/>
                <a:latin typeface="Arial" panose="020B0604020202020204" pitchFamily="34" charset="0"/>
              </a:rPr>
              <a:t>.</a:t>
            </a: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Banned in several countries under privacy laws like </a:t>
            </a:r>
            <a:r>
              <a:rPr kumimoji="0" lang="en-US" altLang="en-US" sz="2000" b="1" i="0" u="none" strike="noStrike" cap="none" normalizeH="0" baseline="0" dirty="0">
                <a:ln>
                  <a:noFill/>
                </a:ln>
                <a:solidFill>
                  <a:schemeClr val="tx1"/>
                </a:solidFill>
                <a:effectLst/>
                <a:latin typeface="Arial" panose="020B0604020202020204" pitchFamily="34" charset="0"/>
              </a:rPr>
              <a:t>GDPR</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1151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1B3A8-7C2B-DB51-ECF4-FE6005BEE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0CEC7-56B0-691B-2F53-5AB6B05C856E}"/>
              </a:ext>
            </a:extLst>
          </p:cNvPr>
          <p:cNvSpPr>
            <a:spLocks noGrp="1"/>
          </p:cNvSpPr>
          <p:nvPr>
            <p:ph type="title"/>
          </p:nvPr>
        </p:nvSpPr>
        <p:spPr>
          <a:xfrm>
            <a:off x="0" y="596999"/>
            <a:ext cx="8297380" cy="1326514"/>
          </a:xfrm>
        </p:spPr>
        <p:txBody>
          <a:bodyPr/>
          <a:lstStyle/>
          <a:p>
            <a:r>
              <a:rPr lang="en-IN" dirty="0"/>
              <a:t>3. Clearview AI – </a:t>
            </a:r>
            <a:br>
              <a:rPr lang="en-IN" dirty="0"/>
            </a:br>
            <a:r>
              <a:rPr lang="en-IN" dirty="0"/>
              <a:t>     Facial Recognition Controversy</a:t>
            </a:r>
            <a:endParaRPr lang="en-ZA" dirty="0"/>
          </a:p>
        </p:txBody>
      </p:sp>
      <p:sp>
        <p:nvSpPr>
          <p:cNvPr id="3" name="Slide Number Placeholder 2">
            <a:extLst>
              <a:ext uri="{FF2B5EF4-FFF2-40B4-BE49-F238E27FC236}">
                <a16:creationId xmlns:a16="http://schemas.microsoft.com/office/drawing/2014/main" id="{6CD64DDD-A1D1-CE28-E542-57F978BAC35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19</a:t>
            </a:fld>
            <a:endParaRPr lang="en-US" dirty="0"/>
          </a:p>
        </p:txBody>
      </p:sp>
      <p:sp>
        <p:nvSpPr>
          <p:cNvPr id="5" name="Rectangle 2">
            <a:extLst>
              <a:ext uri="{FF2B5EF4-FFF2-40B4-BE49-F238E27FC236}">
                <a16:creationId xmlns:a16="http://schemas.microsoft.com/office/drawing/2014/main" id="{4440117B-592B-E6F1-15B2-C54136B1B894}"/>
              </a:ext>
            </a:extLst>
          </p:cNvPr>
          <p:cNvSpPr>
            <a:spLocks noChangeArrowheads="1"/>
          </p:cNvSpPr>
          <p:nvPr/>
        </p:nvSpPr>
        <p:spPr bwMode="auto">
          <a:xfrm>
            <a:off x="911352" y="1885916"/>
            <a:ext cx="903584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dirty="0"/>
              <a:t>The </a:t>
            </a:r>
            <a:r>
              <a:rPr lang="en-US" b="1" dirty="0"/>
              <a:t>Clearview AI facial recognition controversy</a:t>
            </a:r>
            <a:r>
              <a:rPr lang="en-US" dirty="0"/>
              <a:t> is a major example of privacy concerns in artificial intelligence. </a:t>
            </a:r>
            <a:r>
              <a:rPr lang="en-US" b="1" dirty="0"/>
              <a:t>Clearview AI</a:t>
            </a:r>
            <a:r>
              <a:rPr lang="en-US" dirty="0"/>
              <a:t>, a U.S.-based company, built a massive facial recognition database by </a:t>
            </a:r>
            <a:r>
              <a:rPr lang="en-US" b="1" dirty="0"/>
              <a:t>scraping billions of photos</a:t>
            </a:r>
            <a:r>
              <a:rPr lang="en-US" dirty="0"/>
              <a:t> from social media platforms like Facebook, Instagram, and YouTube </a:t>
            </a:r>
            <a:r>
              <a:rPr lang="en-US" b="1" dirty="0"/>
              <a:t>without users’ consent</a:t>
            </a:r>
            <a:r>
              <a:rPr lang="en-US" dirty="0"/>
              <a:t>. The company then sold access to this database to </a:t>
            </a:r>
            <a:r>
              <a:rPr lang="en-US" b="1" dirty="0"/>
              <a:t>law enforcement agencies and private organizations</a:t>
            </a:r>
            <a:r>
              <a:rPr lang="en-US" dirty="0"/>
              <a:t> to help identify people. This raised serious ethical and legal concerns because individuals’ faces were being used and analyzed </a:t>
            </a:r>
            <a:r>
              <a:rPr lang="en-US" b="1" dirty="0"/>
              <a:t>without permission or awareness</a:t>
            </a:r>
            <a:r>
              <a:rPr lang="en-US" dirty="0"/>
              <a:t>, violating their right to privacy. Many countries, including those in the </a:t>
            </a:r>
            <a:r>
              <a:rPr lang="en-US" b="1" dirty="0"/>
              <a:t>European Union and Canada</a:t>
            </a:r>
            <a:r>
              <a:rPr lang="en-US" dirty="0"/>
              <a:t>, declared the company’s actions illegal under privacy laws like the </a:t>
            </a:r>
          </a:p>
          <a:p>
            <a:pPr lvl="0" eaLnBrk="0" fontAlgn="base" hangingPunct="0">
              <a:spcBef>
                <a:spcPct val="0"/>
              </a:spcBef>
              <a:spcAft>
                <a:spcPct val="0"/>
              </a:spcAft>
            </a:pPr>
            <a:r>
              <a:rPr lang="en-US" b="1" dirty="0"/>
              <a:t>GDPR(General Data Protection And Regulation).</a:t>
            </a:r>
            <a:r>
              <a:rPr lang="en-US" dirty="0"/>
              <a:t> The controversy shows how powerful AI can be when used irresponsibly and highlights the need for </a:t>
            </a:r>
            <a:r>
              <a:rPr lang="en-US" b="1" dirty="0"/>
              <a:t>stronger data protection, consent policies, and government regulations</a:t>
            </a:r>
            <a:r>
              <a:rPr lang="en-US" dirty="0"/>
              <a:t> to ensure that facial recognition technology is used </a:t>
            </a:r>
            <a:r>
              <a:rPr lang="en-US" b="1" dirty="0"/>
              <a:t>ethically and fairly</a:t>
            </a:r>
            <a:r>
              <a:rPr lang="en-US" dirty="0"/>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9311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0B9EF-DCE1-B03D-2737-580F118F3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1C5E4-7070-52E7-7548-2C713334663F}"/>
              </a:ext>
            </a:extLst>
          </p:cNvPr>
          <p:cNvSpPr>
            <a:spLocks noGrp="1"/>
          </p:cNvSpPr>
          <p:nvPr>
            <p:ph type="title"/>
          </p:nvPr>
        </p:nvSpPr>
        <p:spPr>
          <a:xfrm>
            <a:off x="0" y="855462"/>
            <a:ext cx="10405174" cy="1326514"/>
          </a:xfrm>
        </p:spPr>
        <p:txBody>
          <a:bodyPr/>
          <a:lstStyle/>
          <a:p>
            <a:r>
              <a:rPr lang="en-IN" dirty="0"/>
              <a:t>Conclusion</a:t>
            </a:r>
            <a:endParaRPr lang="en-ZA" dirty="0"/>
          </a:p>
        </p:txBody>
      </p:sp>
      <p:sp>
        <p:nvSpPr>
          <p:cNvPr id="3" name="Slide Number Placeholder 2">
            <a:extLst>
              <a:ext uri="{FF2B5EF4-FFF2-40B4-BE49-F238E27FC236}">
                <a16:creationId xmlns:a16="http://schemas.microsoft.com/office/drawing/2014/main" id="{E6F05447-5880-CBBD-CA41-94AD1608808A}"/>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20</a:t>
            </a:fld>
            <a:endParaRPr lang="en-US" dirty="0"/>
          </a:p>
        </p:txBody>
      </p:sp>
      <p:sp>
        <p:nvSpPr>
          <p:cNvPr id="8" name="TextBox 7">
            <a:extLst>
              <a:ext uri="{FF2B5EF4-FFF2-40B4-BE49-F238E27FC236}">
                <a16:creationId xmlns:a16="http://schemas.microsoft.com/office/drawing/2014/main" id="{E944414D-CF6B-1D39-E259-C0E360D08A0A}"/>
              </a:ext>
            </a:extLst>
          </p:cNvPr>
          <p:cNvSpPr txBox="1"/>
          <p:nvPr/>
        </p:nvSpPr>
        <p:spPr>
          <a:xfrm>
            <a:off x="911352" y="2181976"/>
            <a:ext cx="9431021" cy="2862322"/>
          </a:xfrm>
          <a:prstGeom prst="rect">
            <a:avLst/>
          </a:prstGeom>
          <a:noFill/>
        </p:spPr>
        <p:txBody>
          <a:bodyPr wrap="square">
            <a:spAutoFit/>
          </a:bodyPr>
          <a:lstStyle/>
          <a:p>
            <a:r>
              <a:rPr lang="en-US" sz="2000" dirty="0"/>
              <a:t>In conclusion, privacy and security are essential pillars of AI ethics. Privacy protects individuals’ personal boundaries in the digital world, while security shields that space from harm. Together, they ensure that AI systems are trustworthy, fair, and accountable. When these principles are ignored, technology can lead to personal harm, loss of freedom, and erosion of trust. Therefore, privacy and security must be integrated into the design of AI systems from the very beginning rather than treated as an afterthought. Building ethical and transparent AI will help create a safer, fairer, and more responsible digital future for all.</a:t>
            </a:r>
          </a:p>
        </p:txBody>
      </p:sp>
    </p:spTree>
    <p:extLst>
      <p:ext uri="{BB962C8B-B14F-4D97-AF65-F5344CB8AC3E}">
        <p14:creationId xmlns:p14="http://schemas.microsoft.com/office/powerpoint/2010/main" val="1075128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CBA99-39F9-512B-6F8B-C4352C7D70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ACFADB-D01F-D4CC-F9DC-665768FC8764}"/>
              </a:ext>
            </a:extLst>
          </p:cNvPr>
          <p:cNvSpPr>
            <a:spLocks noGrp="1"/>
          </p:cNvSpPr>
          <p:nvPr>
            <p:ph type="ctrTitle"/>
          </p:nvPr>
        </p:nvSpPr>
        <p:spPr>
          <a:xfrm>
            <a:off x="6096000" y="3539613"/>
            <a:ext cx="5363300" cy="685800"/>
          </a:xfrm>
        </p:spPr>
        <p:txBody>
          <a:bodyPr>
            <a:normAutofit fontScale="90000"/>
          </a:bodyPr>
          <a:lstStyle/>
          <a:p>
            <a:r>
              <a:rPr lang="en-IN" sz="4400" dirty="0"/>
              <a:t>Thank you</a:t>
            </a:r>
            <a:endParaRPr lang="en-US" sz="4400" dirty="0"/>
          </a:p>
        </p:txBody>
      </p:sp>
    </p:spTree>
    <p:extLst>
      <p:ext uri="{BB962C8B-B14F-4D97-AF65-F5344CB8AC3E}">
        <p14:creationId xmlns:p14="http://schemas.microsoft.com/office/powerpoint/2010/main" val="1095689435"/>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Architecture pitch deck</Template>
  <TotalTime>299</TotalTime>
  <Words>2306</Words>
  <Application>Microsoft Office PowerPoint</Application>
  <PresentationFormat>Widescreen</PresentationFormat>
  <Paragraphs>83</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Avenir Next LT Pro Light</vt:lpstr>
      <vt:lpstr>Calibri</vt:lpstr>
      <vt:lpstr>Posterama</vt:lpstr>
      <vt:lpstr>Custom</vt:lpstr>
      <vt:lpstr>Privacy and Security in AI Ethics</vt:lpstr>
      <vt:lpstr>Introduction:-</vt:lpstr>
      <vt:lpstr>Privacy in Artificial Intelligence</vt:lpstr>
      <vt:lpstr>Security in Artificial Intelligence</vt:lpstr>
      <vt:lpstr>Importance of Privacy and Security in AI</vt:lpstr>
      <vt:lpstr>Real-World Examples</vt:lpstr>
      <vt:lpstr>Key Ethical Concerns</vt:lpstr>
      <vt:lpstr>Ways to Protect Privacy and Security</vt:lpstr>
      <vt:lpstr>Consequences of Ignoring Privacy and Security</vt:lpstr>
      <vt:lpstr>Emerging and Global Challenges</vt:lpstr>
      <vt:lpstr>Role of Ethics in AI Development</vt:lpstr>
      <vt:lpstr>Responsible Data Management in AI</vt:lpstr>
      <vt:lpstr>examples for Privacy and Security in AI Ethics </vt:lpstr>
      <vt:lpstr>1. Cambridge Analytica –     Facebook Data Scandal (2018)</vt:lpstr>
      <vt:lpstr>1. Cambridge Analytica –     Facebook Data Scandal (2018)</vt:lpstr>
      <vt:lpstr>2. Healthcare Data Breaches</vt:lpstr>
      <vt:lpstr>2. Healthcare Data Breaches</vt:lpstr>
      <vt:lpstr>3. Clearview AI –       Facial Recognition Controversy</vt:lpstr>
      <vt:lpstr>3. Clearview AI –       Facial Recognition Controversy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Nihal Lalu</dc:creator>
  <cp:lastModifiedBy>Nihal Lalu</cp:lastModifiedBy>
  <cp:revision>7</cp:revision>
  <dcterms:created xsi:type="dcterms:W3CDTF">2025-10-06T17:11:42Z</dcterms:created>
  <dcterms:modified xsi:type="dcterms:W3CDTF">2025-10-10T12:05:10Z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